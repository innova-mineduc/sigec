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4f31e82d-4b69-6607-2696-f294b7d1dff4}">
          <p14:sldIdLst>
            <p14:sldId id="256"/>
            <p14:sldId id="257"/>
          </p14:sldIdLst>
        </p14:section>
        <p14:section name="Acceso y seguridad" id="{6f543501-87ed-0675-ab16-6e64c5c630dc}">
          <p14:sldIdLst>
            <p14:sldId id="258"/>
            <p14:sldId id="259"/>
            <p14:sldId id="260"/>
          </p14:sldIdLst>
        </p14:section>
        <p14:section name="Registro de casos" id="{b6fef8eb-f42d-4225-fc60-71942f7f969b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Seguimiento" id="{746c2d2f-dfa6-fa87-de1f-8527b55e4448}">
          <p14:sldIdLst>
            <p14:sldId id="268"/>
            <p14:sldId id="269"/>
            <p14:sldId id="270"/>
          </p14:sldIdLst>
        </p14:section>
        <p14:section name="Dashboard" id="{bbdc0a8b-06a0-ddde-9cdd-892bce6ad988}">
          <p14:sldIdLst>
            <p14:sldId id="271"/>
            <p14:sldId id="272"/>
            <p14:sldId id="273"/>
          </p14:sldIdLst>
        </p14:section>
        <p14:section name="Importar datos" id="{79349e30-1fc9-2c4c-6749-ab728d150a0e}">
          <p14:sldIdLst>
            <p14:sldId id="274"/>
            <p14:sldId id="275"/>
            <p14:sldId id="276"/>
            <p14:sldId id="277"/>
          </p14:sldIdLst>
        </p14:section>
        <p14:section name="Administración" id="{f745b440-b313-aa46-f0e8-22819393cb7e}">
          <p14:sldIdLst>
            <p14:sldId id="278"/>
            <p14:sldId id="279"/>
            <p14:sldId id="280"/>
            <p14:sldId id="281"/>
          </p14:sldIdLst>
        </p14:section>
        <p14:section name="Cierre" id="{0ac0927d-2a39-043d-3016-a59915936f33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sistema SIRCE: módulos principales y las validaciones que protegen la calidad de los datos. Las capturas se tomaron del sistema en funcionamiento; los nombres y CUI de las niñas aparecen enmascarados.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login valida en el navegador que no haya campos vacíos y en el servidor las credenciales, el estado del usuario y el número de intentos.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enrutador valida el token y el rol antes de mostrar cada pantalla. El backend repite la verificación con los middleware verifyToken y requireRole.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número de caso se genera automáticamente y no se puede editar. El usuario solo avanza al siguiente paso cuando los datos obligatorios del paso actual están completos.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falta un dato obligatorio aparece un mensaje en rojo debajo del formulario y el botón Siguiente no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reglas de negocio se aplican solas: la zona solo existe para Guatemala/Guatemala, y el municipio de Ixcán asigna la DIDEDUC Quiché Norte. El backend aplica la misma regla de Ixcán aunque el formulario envíe otra dirección.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formulario cambia según el subsistema: Escolar pide nivel, grado, centro educativo, jornada, área y sector; Extraescolar pide programa y etapa.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crear un caso el estado es obligatorio; al editar un caso ya viene precargado y cambiarlo es opcional.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Aunque el formulario ya valida, el backend repite las reglas para que ningún registro inválido llegue a la base de datos, aunque se use la API directamente.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indicadores de la parte superior resumen los casos. La tabla permite buscar por nombre, queja, CUI o código personal y filtrar por queja, CUI, DIDEDUC y estado. En esta captura los nombres y CUI se enmascararon por confidencialidad.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Desde Seguimiento se abre el mismo formulario de registro con todos los datos precargados y un aviso de que se está actualizando un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dashboard filtra por DIDEDUC, departamento, municipio y estado en el sistema, y se exporta a Excel o PDF. La opción "Pixelar nombres" oculta los nombres en el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mapa colorea los departamentos según el número de casos. Las gráficas muestran casos por edad, por mes y por estado, siempre según los filtros aplicados.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el administrador puede importar. Se muestra un resumen de la última carga y el historial completo con totales, nuevos y duplicados.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navegador revisa el archivo antes de enviarlo: si no es Excel o le falta la columna obligatoria se rechaza y no se envía nada al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fila pasa por estos filtros. Las que no se insertan quedan registradas con su número de fila y el motivo exacto.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administrador crea usuarios, asigna el rol y puede editarlos. Si no se asigna contraseña, el sistema usa una por defecto que el usuario debe cambiar.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Inactivar un usuario requiere confirmación. Un usuario inactivo no puede iniciar sesión y su token deja de ser válido. El administrador no puede inactivar su propia cuenta.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acción importante queda registrada con fecha, usuario, tipo de acción y descripción. La bitácora se filtra por acción y rango de fechas y se exporta a Excel o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SIRCE · MINEDUC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SIR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237744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4173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SIRCE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2402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Sistema de Registro de Casos de Embarazo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Recorrido por los módulos y sus validaciones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434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Ministerio de Educación de Guatemala · DIGECADE</a:t>
            </a:r>
            <a:endParaRPr lang="en-US" sz="1100" dirty="0"/>
          </a:p>
        </p:txBody>
      </p:sp>
      <p:sp>
        <p:nvSpPr>
          <p:cNvPr id="7" name="marco 01_login"/>
          <p:cNvSpPr/>
          <p:nvPr/>
        </p:nvSpPr>
        <p:spPr>
          <a:xfrm>
            <a:off x="4846320" y="914400"/>
            <a:ext cx="3931920" cy="2640330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barra navegador"/>
          <p:cNvSpPr/>
          <p:nvPr/>
        </p:nvSpPr>
        <p:spPr>
          <a:xfrm>
            <a:off x="4846320" y="914400"/>
            <a:ext cx="3931920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9" name="Shape 6"/>
          <p:cNvSpPr/>
          <p:nvPr/>
        </p:nvSpPr>
        <p:spPr>
          <a:xfrm>
            <a:off x="4937760" y="96926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7"/>
          <p:cNvSpPr/>
          <p:nvPr/>
        </p:nvSpPr>
        <p:spPr>
          <a:xfrm>
            <a:off x="5056632" y="96926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8"/>
          <p:cNvSpPr/>
          <p:nvPr/>
        </p:nvSpPr>
        <p:spPr>
          <a:xfrm>
            <a:off x="5175504" y="96926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2" name="captura 01_login" descr="Pantalla de inicio de sesión de SIR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97280"/>
            <a:ext cx="3931920" cy="2457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¿Qué es SIRCE?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Plataforma web para registrar, dar seguimiento y analizar los casos de embarazo en niñas y adolescentes menores de 14 años dentro del sistema educativo nacional.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214884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Registro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Formulario en 3 pasos para casos nuevos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587752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67919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5877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Seguimiento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Búsqueda, filtros y actualización de casos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118104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3209544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1181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Dashboard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Indicadores, mapa y gráficas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648456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739896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3739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6484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Importar datos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Carga masiva del reporte MSPAS / SIRE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178808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427024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4270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178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Usuarios y Auditoría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Roles, accesos y bitácora de acciones</a:t>
            </a:r>
            <a:endParaRPr lang="en-US" sz="1150" dirty="0"/>
          </a:p>
        </p:txBody>
      </p:sp>
      <p:sp>
        <p:nvSpPr>
          <p:cNvPr id="24" name="marco 04_inicio"/>
          <p:cNvSpPr/>
          <p:nvPr/>
        </p:nvSpPr>
        <p:spPr>
          <a:xfrm>
            <a:off x="4297680" y="960120"/>
            <a:ext cx="4389120" cy="2926080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barra navegador"/>
          <p:cNvSpPr/>
          <p:nvPr/>
        </p:nvSpPr>
        <p:spPr>
          <a:xfrm>
            <a:off x="4297680" y="960120"/>
            <a:ext cx="4389120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26" name="Shape 24"/>
          <p:cNvSpPr/>
          <p:nvPr/>
        </p:nvSpPr>
        <p:spPr>
          <a:xfrm>
            <a:off x="4389120" y="101498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7" name="Shape 25"/>
          <p:cNvSpPr/>
          <p:nvPr/>
        </p:nvSpPr>
        <p:spPr>
          <a:xfrm>
            <a:off x="4507992" y="101498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8" name="Shape 26"/>
          <p:cNvSpPr/>
          <p:nvPr/>
        </p:nvSpPr>
        <p:spPr>
          <a:xfrm>
            <a:off x="4626864" y="101498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29" name="captura 04_inicio" descr="04_inic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143000"/>
            <a:ext cx="4389120" cy="274320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4297680" y="39410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Pantalla de inicio después de iniciar sesión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Acceso y seguridad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Inicio de sesión, roles y protección de rutas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Validaciones del inicio de sesión</a:t>
            </a:r>
            <a:endParaRPr lang="en-US" sz="2800" dirty="0"/>
          </a:p>
        </p:txBody>
      </p:sp>
      <p:sp>
        <p:nvSpPr>
          <p:cNvPr id="4" name="marco 02_login_vacio"/>
          <p:cNvSpPr/>
          <p:nvPr/>
        </p:nvSpPr>
        <p:spPr>
          <a:xfrm>
            <a:off x="457200" y="960120"/>
            <a:ext cx="2377440" cy="2884516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barra navegador"/>
          <p:cNvSpPr/>
          <p:nvPr/>
        </p:nvSpPr>
        <p:spPr>
          <a:xfrm>
            <a:off x="457200" y="960120"/>
            <a:ext cx="2377440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1498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4"/>
          <p:cNvSpPr/>
          <p:nvPr/>
        </p:nvSpPr>
        <p:spPr>
          <a:xfrm>
            <a:off x="667512" y="101498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5"/>
          <p:cNvSpPr/>
          <p:nvPr/>
        </p:nvSpPr>
        <p:spPr>
          <a:xfrm>
            <a:off x="786384" y="101498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9" name="captura 02_login_vacio" descr="02_login_vac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2377440" cy="27016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38995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Campos vacíos</a:t>
            </a:r>
            <a:endParaRPr lang="en-US" sz="1000" dirty="0"/>
          </a:p>
        </p:txBody>
      </p:sp>
      <p:sp>
        <p:nvSpPr>
          <p:cNvPr id="11" name="marco 03_login_incorrecto"/>
          <p:cNvSpPr/>
          <p:nvPr/>
        </p:nvSpPr>
        <p:spPr>
          <a:xfrm>
            <a:off x="2971800" y="960120"/>
            <a:ext cx="2377440" cy="2884516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barra navegador"/>
          <p:cNvSpPr/>
          <p:nvPr/>
        </p:nvSpPr>
        <p:spPr>
          <a:xfrm>
            <a:off x="2971800" y="960120"/>
            <a:ext cx="2377440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13" name="Shape 9"/>
          <p:cNvSpPr/>
          <p:nvPr/>
        </p:nvSpPr>
        <p:spPr>
          <a:xfrm>
            <a:off x="3063240" y="101498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4" name="Shape 10"/>
          <p:cNvSpPr/>
          <p:nvPr/>
        </p:nvSpPr>
        <p:spPr>
          <a:xfrm>
            <a:off x="3182112" y="101498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5" name="Shape 11"/>
          <p:cNvSpPr/>
          <p:nvPr/>
        </p:nvSpPr>
        <p:spPr>
          <a:xfrm>
            <a:off x="3300984" y="101498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6" name="captura 03_login_incorrecto" descr="03_login_incorrec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143000"/>
            <a:ext cx="2377440" cy="27016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971800" y="38995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Contraseña incorrecta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623560" y="987552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623560" y="987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007608" y="960120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Campos obligatorios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"Completa todos los campos" si falta correo o contraseña.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23560" y="1673352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623560" y="1673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007608" y="1645920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Credenciales incorrectas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Correo o contraseña no válidos: no se indica cuál de los dos falló.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623560" y="2359152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562356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6007608" y="2331720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Usuario inactivo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"Usuario inactivo. Contacte al administrador."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5623560" y="3044952"/>
            <a:ext cx="274320" cy="2743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5623560" y="3044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•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6007608" y="3017520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Límite de intentos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Máximo 100 solicitudes cada 15 minutos por IP.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5623560" y="3730752"/>
            <a:ext cx="274320" cy="2743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5623560" y="3730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•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6007608" y="3703320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Sesión con token (JWT)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Se valida el token en cada cambio de pantalla.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Control de acceso por rol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206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Pantalla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Administrador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Usuario / Moderador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Inicio, Dashboard, Seguimiento, Registro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Importar datos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Usuarios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Auditoría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136392"/>
            <a:ext cx="274320" cy="2743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45720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•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841248" y="3108960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Sin sesión → Login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Cualquier pantalla privada redirige al inicio de sesión.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57200" y="3776472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457200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41248" y="3749040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Rol sin permiso → 403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Se redirige a "Acceso denegado".</a:t>
            </a:r>
            <a:endParaRPr lang="en-US" sz="1300" dirty="0"/>
          </a:p>
        </p:txBody>
      </p:sp>
      <p:sp>
        <p:nvSpPr>
          <p:cNvPr id="11" name="marco 26_sin_sesion"/>
          <p:cNvSpPr/>
          <p:nvPr/>
        </p:nvSpPr>
        <p:spPr>
          <a:xfrm>
            <a:off x="4946904" y="960120"/>
            <a:ext cx="3730752" cy="2514600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barra navegador"/>
          <p:cNvSpPr/>
          <p:nvPr/>
        </p:nvSpPr>
        <p:spPr>
          <a:xfrm>
            <a:off x="4946904" y="960120"/>
            <a:ext cx="3730752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13" name="Shape 9"/>
          <p:cNvSpPr/>
          <p:nvPr/>
        </p:nvSpPr>
        <p:spPr>
          <a:xfrm>
            <a:off x="5038344" y="101498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4" name="Shape 10"/>
          <p:cNvSpPr/>
          <p:nvPr/>
        </p:nvSpPr>
        <p:spPr>
          <a:xfrm>
            <a:off x="5157216" y="101498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5" name="Shape 11"/>
          <p:cNvSpPr/>
          <p:nvPr/>
        </p:nvSpPr>
        <p:spPr>
          <a:xfrm>
            <a:off x="5276088" y="101498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6" name="captura 26_sin_sesion" descr="26_sin_se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1143000"/>
            <a:ext cx="3730752" cy="23317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946904" y="3529584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Intento de abrir /users sin sesión</a:t>
            </a:r>
            <a:endParaRPr lang="en-US" sz="1000" dirty="0"/>
          </a:p>
        </p:txBody>
      </p:sp>
      <p:sp>
        <p:nvSpPr>
          <p:cNvPr id="18" name="marco 25_404"/>
          <p:cNvSpPr/>
          <p:nvPr/>
        </p:nvSpPr>
        <p:spPr>
          <a:xfrm>
            <a:off x="6158753" y="3703320"/>
            <a:ext cx="1307054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barra navegador"/>
          <p:cNvSpPr/>
          <p:nvPr/>
        </p:nvSpPr>
        <p:spPr>
          <a:xfrm>
            <a:off x="6158753" y="3703320"/>
            <a:ext cx="1307054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20" name="Shape 15"/>
          <p:cNvSpPr/>
          <p:nvPr/>
        </p:nvSpPr>
        <p:spPr>
          <a:xfrm>
            <a:off x="6250193" y="375818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1" name="Shape 16"/>
          <p:cNvSpPr/>
          <p:nvPr/>
        </p:nvSpPr>
        <p:spPr>
          <a:xfrm>
            <a:off x="6369065" y="375818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2" name="Shape 17"/>
          <p:cNvSpPr/>
          <p:nvPr/>
        </p:nvSpPr>
        <p:spPr>
          <a:xfrm>
            <a:off x="6487937" y="375818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23" name="captura 25_404" descr="Página 40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753" y="3886200"/>
            <a:ext cx="1307054" cy="8229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772400" y="4023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Ruta inexistente → 404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Registro de casos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Formulario guiado en 3 pasos con validación en cada paso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 registro guiado en 3 pasos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9601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Info. General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No. de caso, queja, fecha de ingreso y DIDEDUC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1508760"/>
            <a:ext cx="0" cy="41148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457200" y="1965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19202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Datos de la niña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CUI, nombre, nacimiento, residencia, pueblo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5800" y="2468880"/>
            <a:ext cx="0" cy="41148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2880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Situación educativa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Subsistema, nivel, grado, centro y estado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57200" y="3931920"/>
            <a:ext cx="32918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" y="3931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Número automático: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el sistema asigna el No. de caso (ej. 00715-026) y lo bloquea.</a:t>
            </a:r>
            <a:endParaRPr lang="en-US" sz="1100" dirty="0"/>
          </a:p>
        </p:txBody>
      </p:sp>
      <p:sp>
        <p:nvSpPr>
          <p:cNvPr id="17" name="marco 10_registro_paso1"/>
          <p:cNvSpPr/>
          <p:nvPr/>
        </p:nvSpPr>
        <p:spPr>
          <a:xfrm>
            <a:off x="4023360" y="960120"/>
            <a:ext cx="4663440" cy="2947634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barra navegador"/>
          <p:cNvSpPr/>
          <p:nvPr/>
        </p:nvSpPr>
        <p:spPr>
          <a:xfrm>
            <a:off x="4023360" y="960120"/>
            <a:ext cx="4663440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19" name="Shape 16"/>
          <p:cNvSpPr/>
          <p:nvPr/>
        </p:nvSpPr>
        <p:spPr>
          <a:xfrm>
            <a:off x="4114800" y="101498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7"/>
          <p:cNvSpPr/>
          <p:nvPr/>
        </p:nvSpPr>
        <p:spPr>
          <a:xfrm>
            <a:off x="4233672" y="101498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1" name="Shape 18"/>
          <p:cNvSpPr/>
          <p:nvPr/>
        </p:nvSpPr>
        <p:spPr>
          <a:xfrm>
            <a:off x="4352544" y="101498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22" name="captura 10_registro_paso1" descr="10_registro_paso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143000"/>
            <a:ext cx="4663440" cy="276475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023360" y="396261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Paso 1 — Información general del caso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Validaciones de los pasos 1 y 2</a:t>
            </a:r>
            <a:endParaRPr lang="en-US" sz="2800" dirty="0"/>
          </a:p>
        </p:txBody>
      </p:sp>
      <p:sp>
        <p:nvSpPr>
          <p:cNvPr id="4" name="marco 11_val_fecha_ingreso"/>
          <p:cNvSpPr/>
          <p:nvPr/>
        </p:nvSpPr>
        <p:spPr>
          <a:xfrm>
            <a:off x="457200" y="960120"/>
            <a:ext cx="3931920" cy="2598202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barra navegador"/>
          <p:cNvSpPr/>
          <p:nvPr/>
        </p:nvSpPr>
        <p:spPr>
          <a:xfrm>
            <a:off x="457200" y="960120"/>
            <a:ext cx="3931920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1498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4"/>
          <p:cNvSpPr/>
          <p:nvPr/>
        </p:nvSpPr>
        <p:spPr>
          <a:xfrm>
            <a:off x="667512" y="101498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5"/>
          <p:cNvSpPr/>
          <p:nvPr/>
        </p:nvSpPr>
        <p:spPr>
          <a:xfrm>
            <a:off x="786384" y="101498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9" name="captura 11_val_fecha_ingreso" descr="11_val_fecha_ingres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931920" cy="241532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361318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Paso 1 sin fecha de ingreso</a:t>
            </a:r>
            <a:endParaRPr lang="en-US" sz="1000" dirty="0"/>
          </a:p>
        </p:txBody>
      </p:sp>
      <p:sp>
        <p:nvSpPr>
          <p:cNvPr id="11" name="marco 12_val_nombre"/>
          <p:cNvSpPr/>
          <p:nvPr/>
        </p:nvSpPr>
        <p:spPr>
          <a:xfrm>
            <a:off x="4754880" y="960120"/>
            <a:ext cx="3931920" cy="2176925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barra navegador"/>
          <p:cNvSpPr/>
          <p:nvPr/>
        </p:nvSpPr>
        <p:spPr>
          <a:xfrm>
            <a:off x="4754880" y="960120"/>
            <a:ext cx="3931920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13" name="Shape 9"/>
          <p:cNvSpPr/>
          <p:nvPr/>
        </p:nvSpPr>
        <p:spPr>
          <a:xfrm>
            <a:off x="4846320" y="101498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4" name="Shape 10"/>
          <p:cNvSpPr/>
          <p:nvPr/>
        </p:nvSpPr>
        <p:spPr>
          <a:xfrm>
            <a:off x="4965192" y="101498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5" name="Shape 11"/>
          <p:cNvSpPr/>
          <p:nvPr/>
        </p:nvSpPr>
        <p:spPr>
          <a:xfrm>
            <a:off x="5084064" y="101498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6" name="captura 12_val_nombre" descr="12_val_nomb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43000"/>
            <a:ext cx="3931920" cy="199404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54880" y="3191909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Paso 2 sin nombre de la niña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3959352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57200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" y="3931920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Fecha de ingreso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Día, mes y año son obligatorios.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291840" y="3959352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3291840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3675888" y="3931920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Nombre completo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Obligatorio en el paso 2.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126480" y="3959352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126480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6510528" y="393192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Fecha de nacimiento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Día, mes y año obligatorios.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Reglas automáticas de ubicación</a:t>
            </a:r>
            <a:endParaRPr lang="en-US" sz="2800" dirty="0"/>
          </a:p>
        </p:txBody>
      </p:sp>
      <p:sp>
        <p:nvSpPr>
          <p:cNvPr id="4" name="marco 13_regla_zona"/>
          <p:cNvSpPr/>
          <p:nvPr/>
        </p:nvSpPr>
        <p:spPr>
          <a:xfrm>
            <a:off x="457200" y="960120"/>
            <a:ext cx="3931920" cy="1362456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barra navegador"/>
          <p:cNvSpPr/>
          <p:nvPr/>
        </p:nvSpPr>
        <p:spPr>
          <a:xfrm>
            <a:off x="457200" y="960120"/>
            <a:ext cx="3931920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1498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4"/>
          <p:cNvSpPr/>
          <p:nvPr/>
        </p:nvSpPr>
        <p:spPr>
          <a:xfrm>
            <a:off x="667512" y="101498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5"/>
          <p:cNvSpPr/>
          <p:nvPr/>
        </p:nvSpPr>
        <p:spPr>
          <a:xfrm>
            <a:off x="786384" y="101498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9" name="captura 13_regla_zona" descr="13_regla_zo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931920" cy="11795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2377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Aparece "Zona" al elegir Guatemala / Guatemala</a:t>
            </a:r>
            <a:endParaRPr lang="en-US" sz="1000" dirty="0"/>
          </a:p>
        </p:txBody>
      </p:sp>
      <p:sp>
        <p:nvSpPr>
          <p:cNvPr id="11" name="marco 14_regla_ixcan"/>
          <p:cNvSpPr/>
          <p:nvPr/>
        </p:nvSpPr>
        <p:spPr>
          <a:xfrm>
            <a:off x="4754880" y="960120"/>
            <a:ext cx="3931920" cy="2598202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barra navegador"/>
          <p:cNvSpPr/>
          <p:nvPr/>
        </p:nvSpPr>
        <p:spPr>
          <a:xfrm>
            <a:off x="4754880" y="960120"/>
            <a:ext cx="3931920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13" name="Shape 9"/>
          <p:cNvSpPr/>
          <p:nvPr/>
        </p:nvSpPr>
        <p:spPr>
          <a:xfrm>
            <a:off x="4846320" y="101498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4" name="Shape 10"/>
          <p:cNvSpPr/>
          <p:nvPr/>
        </p:nvSpPr>
        <p:spPr>
          <a:xfrm>
            <a:off x="4965192" y="101498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5" name="Shape 11"/>
          <p:cNvSpPr/>
          <p:nvPr/>
        </p:nvSpPr>
        <p:spPr>
          <a:xfrm>
            <a:off x="5084064" y="101498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6" name="captura 14_regla_ixcan" descr="14_regla_ixc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43000"/>
            <a:ext cx="3931920" cy="241532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54880" y="361318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Ixcán cambia la DIDEDUC a "Quiché Norte"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405079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57200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↻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" y="4023360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Zona condicional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Solo se muestra y guarda para la Ciudad de Guatemala; en otro municipio se limpia.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754880" y="405079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4754880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↻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138928" y="4023360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Regla Ixcán → Quiché Norte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Se aplica en el formulario y se impone en el servidor.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Paso 3: campos según el subsistema</a:t>
            </a:r>
            <a:endParaRPr lang="en-US" sz="2800" dirty="0"/>
          </a:p>
        </p:txBody>
      </p:sp>
      <p:sp>
        <p:nvSpPr>
          <p:cNvPr id="4" name="marco 16_paso3_escolar"/>
          <p:cNvSpPr/>
          <p:nvPr/>
        </p:nvSpPr>
        <p:spPr>
          <a:xfrm>
            <a:off x="457200" y="960120"/>
            <a:ext cx="3650827" cy="3703320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barra navegador"/>
          <p:cNvSpPr/>
          <p:nvPr/>
        </p:nvSpPr>
        <p:spPr>
          <a:xfrm>
            <a:off x="457200" y="960120"/>
            <a:ext cx="3650827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1498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4"/>
          <p:cNvSpPr/>
          <p:nvPr/>
        </p:nvSpPr>
        <p:spPr>
          <a:xfrm>
            <a:off x="667512" y="101498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5"/>
          <p:cNvSpPr/>
          <p:nvPr/>
        </p:nvSpPr>
        <p:spPr>
          <a:xfrm>
            <a:off x="786384" y="101498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9" name="captura 16_paso3_escolar" descr="16_paso3_escol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650827" cy="35204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69280" y="103327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669280" y="1033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↻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053328" y="1005840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Subsistema Escolar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Nivel, grado, ciclo, resultado, código UDI, centro, jornada, área y sector.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669280" y="181051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669280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↻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053328" y="1783080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Subsistema Extraescolar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Programa, etapa, ciclo y resultado.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669280" y="258775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6692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↻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053328" y="2560320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Municipio dependiente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Se habilita solo tras elegir el departamento.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669280" y="3364992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66928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053328" y="3337560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Nivel normalizado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Variantes como "basico" se guardan como "Media (Básico)".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El estado del caso es obligatorio</a:t>
            </a:r>
            <a:endParaRPr lang="en-US" sz="2800" dirty="0"/>
          </a:p>
        </p:txBody>
      </p:sp>
      <p:sp>
        <p:nvSpPr>
          <p:cNvPr id="4" name="marco 17_val_estado"/>
          <p:cNvSpPr/>
          <p:nvPr/>
        </p:nvSpPr>
        <p:spPr>
          <a:xfrm>
            <a:off x="457200" y="960120"/>
            <a:ext cx="4937760" cy="3392424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barra navegador"/>
          <p:cNvSpPr/>
          <p:nvPr/>
        </p:nvSpPr>
        <p:spPr>
          <a:xfrm>
            <a:off x="457200" y="960120"/>
            <a:ext cx="4937760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1498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4"/>
          <p:cNvSpPr/>
          <p:nvPr/>
        </p:nvSpPr>
        <p:spPr>
          <a:xfrm>
            <a:off x="667512" y="101498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5"/>
          <p:cNvSpPr/>
          <p:nvPr/>
        </p:nvSpPr>
        <p:spPr>
          <a:xfrm>
            <a:off x="786384" y="101498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9" name="captura 17_val_estado" descr="17_val_est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937760" cy="32095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440740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Intento de enviar sin estado: el campo se marca en rojo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669280" y="1005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Estados válidos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0" y="1417320"/>
            <a:ext cx="301752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806440" y="14173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Verificados en el SIRE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669280" y="1892808"/>
            <a:ext cx="301752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806440" y="189280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Sin verificar en el SIRE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669280" y="2368296"/>
            <a:ext cx="301752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806440" y="236829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Verificados en el Sistema de Quejas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669280" y="2843784"/>
            <a:ext cx="301752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5806440" y="284378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Sin quejas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669280" y="3456432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669280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6053328" y="3429000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Cualquier otro valor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El servidor lo rechaza con error 400.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El servidor valida de nuevo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Regla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Respuesta del servidor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Falta el número de caso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400 · "El número de caso es requerido"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Falta el nombre de la niña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400 · "El nombre completo de la niña es requerido"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Estado vacío o no válido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400 · "El estado del caso es obligatorio (…)"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Nivel educativo desconocido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400 · "Nivel educativo no válido (…)"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No. de caso o CUI repetido con datos distintos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409 · "Ya existe un caso con ese número…"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Caso inexistente al editar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404 · "Caso no encontrado"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Error a mitad del guardado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 revierte toda la transacción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Seguimiento de casos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Búsqueda, filtros y actualización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Búsqueda y filtros de casos</a:t>
            </a:r>
            <a:endParaRPr lang="en-US" sz="2800" dirty="0"/>
          </a:p>
        </p:txBody>
      </p:sp>
      <p:sp>
        <p:nvSpPr>
          <p:cNvPr id="4" name="marco 08_seguimiento"/>
          <p:cNvSpPr/>
          <p:nvPr/>
        </p:nvSpPr>
        <p:spPr>
          <a:xfrm>
            <a:off x="457200" y="960120"/>
            <a:ext cx="4490720" cy="3749040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barra navegador"/>
          <p:cNvSpPr/>
          <p:nvPr/>
        </p:nvSpPr>
        <p:spPr>
          <a:xfrm>
            <a:off x="457200" y="960120"/>
            <a:ext cx="4490720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1498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4"/>
          <p:cNvSpPr/>
          <p:nvPr/>
        </p:nvSpPr>
        <p:spPr>
          <a:xfrm>
            <a:off x="667512" y="101498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5"/>
          <p:cNvSpPr/>
          <p:nvPr/>
        </p:nvSpPr>
        <p:spPr>
          <a:xfrm>
            <a:off x="786384" y="101498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9" name="captura 08_seguimiento" descr="08_seguimie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490720" cy="3566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17920" y="1033272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217920" y="1033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601968" y="100584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Búsqueda única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Nombre, queja, CUI o código personal.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0" y="1764792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217920" y="1764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601968" y="173736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4 filtros combinables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Queja, CUI, DIDEDUC y estado.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17920" y="2496312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217920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601968" y="246888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Paginación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10 casos por página por defecto.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17920" y="3227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21792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↻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601968" y="320040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Botón SEGUIMIENTO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Abre el caso en modo edición.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Actualizar un caso existente</a:t>
            </a:r>
            <a:endParaRPr lang="en-US" sz="2800" dirty="0"/>
          </a:p>
        </p:txBody>
      </p:sp>
      <p:sp>
        <p:nvSpPr>
          <p:cNvPr id="4" name="marco 09_caso_actualizar"/>
          <p:cNvSpPr/>
          <p:nvPr/>
        </p:nvSpPr>
        <p:spPr>
          <a:xfrm>
            <a:off x="457200" y="960120"/>
            <a:ext cx="5120640" cy="3474720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barra navegador"/>
          <p:cNvSpPr/>
          <p:nvPr/>
        </p:nvSpPr>
        <p:spPr>
          <a:xfrm>
            <a:off x="457200" y="960120"/>
            <a:ext cx="5120640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1498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4"/>
          <p:cNvSpPr/>
          <p:nvPr/>
        </p:nvSpPr>
        <p:spPr>
          <a:xfrm>
            <a:off x="667512" y="101498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5"/>
          <p:cNvSpPr/>
          <p:nvPr/>
        </p:nvSpPr>
        <p:spPr>
          <a:xfrm>
            <a:off x="786384" y="101498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9" name="captura 09_caso_actualizar" descr="09_caso_actualiz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120640" cy="32918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852160" y="103327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852160" y="1033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↻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236208" y="100584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Datos precargados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Fechas, DIDEDUC, ubicación y situación educativa.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852160" y="1764792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852160" y="1764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236208" y="173736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Todo es editable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Excepto el número de caso.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852160" y="2496312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852160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236208" y="246888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Estado opcional al editar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Se muestra el estado actual como referencia.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852160" y="3227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85216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↻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236208" y="320040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Mismas reglas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Ixcán, zona y nivel se aplican también al actualizar.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Dashboard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Panorama nacional con filtros, mapa y gráficas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Indicadores y filtros</a:t>
            </a:r>
            <a:endParaRPr lang="en-US" sz="2800" dirty="0"/>
          </a:p>
        </p:txBody>
      </p:sp>
      <p:sp>
        <p:nvSpPr>
          <p:cNvPr id="4" name="marco 05_dashboard_filtros"/>
          <p:cNvSpPr/>
          <p:nvPr/>
        </p:nvSpPr>
        <p:spPr>
          <a:xfrm>
            <a:off x="457200" y="960120"/>
            <a:ext cx="5120640" cy="2743200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barra navegador"/>
          <p:cNvSpPr/>
          <p:nvPr/>
        </p:nvSpPr>
        <p:spPr>
          <a:xfrm>
            <a:off x="457200" y="960120"/>
            <a:ext cx="5120640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1498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4"/>
          <p:cNvSpPr/>
          <p:nvPr/>
        </p:nvSpPr>
        <p:spPr>
          <a:xfrm>
            <a:off x="667512" y="101498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5"/>
          <p:cNvSpPr/>
          <p:nvPr/>
        </p:nvSpPr>
        <p:spPr>
          <a:xfrm>
            <a:off x="786384" y="101498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9" name="captura 05_dashboard_filtros" descr="05_dashboard_filtr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120640" cy="2560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852160" y="1005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714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7132320" y="1005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casos totales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852160" y="1920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354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713232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verificados en el SIRE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852160" y="28346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360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7132320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verificados en Quejas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852160" y="3822192"/>
            <a:ext cx="274320" cy="2743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852160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•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236208" y="379476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Pixelar nombres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Oculta los nombres al exportar a PDF.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Mapa y gráficas</a:t>
            </a:r>
            <a:endParaRPr lang="en-US" sz="2800" dirty="0"/>
          </a:p>
        </p:txBody>
      </p:sp>
      <p:sp>
        <p:nvSpPr>
          <p:cNvPr id="4" name="marco 06_dashboard_mapa"/>
          <p:cNvSpPr/>
          <p:nvPr/>
        </p:nvSpPr>
        <p:spPr>
          <a:xfrm>
            <a:off x="457200" y="960120"/>
            <a:ext cx="4023360" cy="2697480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barra navegador"/>
          <p:cNvSpPr/>
          <p:nvPr/>
        </p:nvSpPr>
        <p:spPr>
          <a:xfrm>
            <a:off x="457200" y="960120"/>
            <a:ext cx="4023360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1498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4"/>
          <p:cNvSpPr/>
          <p:nvPr/>
        </p:nvSpPr>
        <p:spPr>
          <a:xfrm>
            <a:off x="667512" y="101498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5"/>
          <p:cNvSpPr/>
          <p:nvPr/>
        </p:nvSpPr>
        <p:spPr>
          <a:xfrm>
            <a:off x="786384" y="101498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9" name="captura 06_dashboard_mapa" descr="06_dashboard_map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14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371246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Mapa por departamento y casos por edad</a:t>
            </a:r>
            <a:endParaRPr lang="en-US" sz="1000" dirty="0"/>
          </a:p>
        </p:txBody>
      </p:sp>
      <p:sp>
        <p:nvSpPr>
          <p:cNvPr id="11" name="marco 07_dashboard_graficas"/>
          <p:cNvSpPr/>
          <p:nvPr/>
        </p:nvSpPr>
        <p:spPr>
          <a:xfrm>
            <a:off x="4663440" y="960120"/>
            <a:ext cx="4023360" cy="1784773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barra navegador"/>
          <p:cNvSpPr/>
          <p:nvPr/>
        </p:nvSpPr>
        <p:spPr>
          <a:xfrm>
            <a:off x="4663440" y="960120"/>
            <a:ext cx="4023360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13" name="Shape 9"/>
          <p:cNvSpPr/>
          <p:nvPr/>
        </p:nvSpPr>
        <p:spPr>
          <a:xfrm>
            <a:off x="4754880" y="101498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4" name="Shape 10"/>
          <p:cNvSpPr/>
          <p:nvPr/>
        </p:nvSpPr>
        <p:spPr>
          <a:xfrm>
            <a:off x="4873752" y="101498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5" name="Shape 11"/>
          <p:cNvSpPr/>
          <p:nvPr/>
        </p:nvSpPr>
        <p:spPr>
          <a:xfrm>
            <a:off x="4992624" y="101498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6" name="captura 07_dashboard_graficas" descr="07_dashboard_grafic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4023360" cy="16018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63440" y="2799757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Casos por mes y por estado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409651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57200" y="4096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↻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" y="4069080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Responde a los filtros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Mapa, edades y gráficas se recalculan juntos.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663440" y="4096512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4663440" y="4096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047488" y="4069080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Exportación auditada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Cada descarga de Excel o PDF queda en la bitácora.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Importación masiva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Carga del reporte Excel del MSPAS con validación previa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Importar el reporte del MSPAS</a:t>
            </a:r>
            <a:endParaRPr lang="en-US" sz="2800" dirty="0"/>
          </a:p>
        </p:txBody>
      </p:sp>
      <p:sp>
        <p:nvSpPr>
          <p:cNvPr id="4" name="marco 18_importar"/>
          <p:cNvSpPr/>
          <p:nvPr/>
        </p:nvSpPr>
        <p:spPr>
          <a:xfrm>
            <a:off x="457200" y="960120"/>
            <a:ext cx="5120640" cy="3266902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barra navegador"/>
          <p:cNvSpPr/>
          <p:nvPr/>
        </p:nvSpPr>
        <p:spPr>
          <a:xfrm>
            <a:off x="457200" y="960120"/>
            <a:ext cx="5120640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1498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4"/>
          <p:cNvSpPr/>
          <p:nvPr/>
        </p:nvSpPr>
        <p:spPr>
          <a:xfrm>
            <a:off x="667512" y="101498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5"/>
          <p:cNvSpPr/>
          <p:nvPr/>
        </p:nvSpPr>
        <p:spPr>
          <a:xfrm>
            <a:off x="786384" y="101498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9" name="captura 18_importar" descr="18_import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120640" cy="308402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852160" y="1005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724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7132320" y="1005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filas leídas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852160" y="1920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714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713232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casos nuevos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852160" y="28346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10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7132320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duplicados omitidos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852160" y="3794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</a:rPr>
              <a:t>Resultado de la carga inicial registrada en el historial.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Validaciones del archivo antes de subirlo</a:t>
            </a:r>
            <a:endParaRPr lang="en-US" sz="2800" dirty="0"/>
          </a:p>
        </p:txBody>
      </p:sp>
      <p:sp>
        <p:nvSpPr>
          <p:cNvPr id="4" name="marco 19_val_archivo_tipo"/>
          <p:cNvSpPr/>
          <p:nvPr/>
        </p:nvSpPr>
        <p:spPr>
          <a:xfrm>
            <a:off x="457200" y="1097280"/>
            <a:ext cx="3931920" cy="1976819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barra navegador"/>
          <p:cNvSpPr/>
          <p:nvPr/>
        </p:nvSpPr>
        <p:spPr>
          <a:xfrm>
            <a:off x="457200" y="1097280"/>
            <a:ext cx="3931920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15214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4"/>
          <p:cNvSpPr/>
          <p:nvPr/>
        </p:nvSpPr>
        <p:spPr>
          <a:xfrm>
            <a:off x="667512" y="115214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5"/>
          <p:cNvSpPr/>
          <p:nvPr/>
        </p:nvSpPr>
        <p:spPr>
          <a:xfrm>
            <a:off x="786384" y="115214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9" name="captura 19_val_archivo_tipo" descr="19_val_archivo_ti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3931920" cy="179393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3128963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Se intentó subir un PDF</a:t>
            </a:r>
            <a:endParaRPr lang="en-US" sz="1000" dirty="0"/>
          </a:p>
        </p:txBody>
      </p:sp>
      <p:sp>
        <p:nvSpPr>
          <p:cNvPr id="11" name="marco 20_val_columnas"/>
          <p:cNvSpPr/>
          <p:nvPr/>
        </p:nvSpPr>
        <p:spPr>
          <a:xfrm>
            <a:off x="4754880" y="1097280"/>
            <a:ext cx="3931920" cy="1976819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barra navegador"/>
          <p:cNvSpPr/>
          <p:nvPr/>
        </p:nvSpPr>
        <p:spPr>
          <a:xfrm>
            <a:off x="4754880" y="1097280"/>
            <a:ext cx="3931920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13" name="Shape 9"/>
          <p:cNvSpPr/>
          <p:nvPr/>
        </p:nvSpPr>
        <p:spPr>
          <a:xfrm>
            <a:off x="4846320" y="115214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4" name="Shape 10"/>
          <p:cNvSpPr/>
          <p:nvPr/>
        </p:nvSpPr>
        <p:spPr>
          <a:xfrm>
            <a:off x="4965192" y="115214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5" name="Shape 11"/>
          <p:cNvSpPr/>
          <p:nvPr/>
        </p:nvSpPr>
        <p:spPr>
          <a:xfrm>
            <a:off x="5084064" y="115214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6" name="captura 20_val_columnas" descr="20_val_column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1793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54880" y="3128963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Excel sin la columna "Nombre completo"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4096512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57200" y="4096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" y="4069080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Formato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Solo .xlsx o .xls, hasta 100 MB.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291840" y="4096512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3291840" y="4096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3675888" y="4069080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Columna obligatoria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"Nombre completo" debe existir.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126480" y="4096512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126480" y="4096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6510528" y="406908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Columnas importantes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Si faltan, se avisa y se continúa.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Cómo se procesa cada fila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517904" cy="2011680"/>
          </a:xfrm>
          <a:prstGeom prst="roundRect">
            <a:avLst>
              <a:gd name="adj" fmla="val 6024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941832" y="14630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4884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Sin nombre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6888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 fila se omite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30552" y="1280160"/>
            <a:ext cx="1517904" cy="2011680"/>
          </a:xfrm>
          <a:prstGeom prst="roundRect">
            <a:avLst>
              <a:gd name="adj" fmla="val 6024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2615184" y="14630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615184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2221992" y="214884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CUI repetido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221992" y="246888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Ya existe en la base: se omite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803904" y="1280160"/>
            <a:ext cx="1517904" cy="2011680"/>
          </a:xfrm>
          <a:prstGeom prst="roundRect">
            <a:avLst>
              <a:gd name="adj" fmla="val 6024"/>
            </a:avLst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4288536" y="14630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288536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3895344" y="214884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Nombre repetido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895344" y="246888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Ya existe en la base: se omite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77256" y="1280160"/>
            <a:ext cx="1517904" cy="2011680"/>
          </a:xfrm>
          <a:prstGeom prst="roundRect">
            <a:avLst>
              <a:gd name="adj" fmla="val 6024"/>
            </a:avLst>
          </a:prstGeom>
          <a:solidFill>
            <a:schemeClr val="bg2"/>
          </a:solidFill>
          <a:ln/>
        </p:spPr>
      </p:sp>
      <p:sp>
        <p:nvSpPr>
          <p:cNvPr id="20" name="Shape 17"/>
          <p:cNvSpPr/>
          <p:nvPr/>
        </p:nvSpPr>
        <p:spPr>
          <a:xfrm>
            <a:off x="5961888" y="14630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961888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5568696" y="214884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Ubicación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568696" y="246888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Departamento y municipio se corrigen por similitud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150608" y="1280160"/>
            <a:ext cx="1517904" cy="2011680"/>
          </a:xfrm>
          <a:prstGeom prst="roundRect">
            <a:avLst>
              <a:gd name="adj" fmla="val 6024"/>
            </a:avLst>
          </a:prstGeom>
          <a:solidFill>
            <a:schemeClr val="bg2"/>
          </a:solidFill>
          <a:ln/>
        </p:spPr>
      </p:sp>
      <p:sp>
        <p:nvSpPr>
          <p:cNvPr id="25" name="Shape 22"/>
          <p:cNvSpPr/>
          <p:nvPr/>
        </p:nvSpPr>
        <p:spPr>
          <a:xfrm>
            <a:off x="7635240" y="14630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6352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7242048" y="214884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Guardado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242048" y="246888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 crea el caso; si la BD lo rechaza se anota el error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611880"/>
            <a:ext cx="82296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85800" y="3611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Corrección de ubicación: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nombres como "Ciudad Capital" o "Sta. Lucía" se emparejan con el catálogo oficial. Si la coincidencia no es confiable, el campo queda vacío en lugar de asignar una ubicación incorrecta.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Administración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Usuarios, roles y bitácora de auditoría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Gestión de usuarios</a:t>
            </a:r>
            <a:endParaRPr lang="en-US" sz="2800" dirty="0"/>
          </a:p>
        </p:txBody>
      </p:sp>
      <p:sp>
        <p:nvSpPr>
          <p:cNvPr id="4" name="marco 22_usuario_nuevo"/>
          <p:cNvSpPr/>
          <p:nvPr/>
        </p:nvSpPr>
        <p:spPr>
          <a:xfrm>
            <a:off x="457200" y="960120"/>
            <a:ext cx="5120640" cy="2975956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barra navegador"/>
          <p:cNvSpPr/>
          <p:nvPr/>
        </p:nvSpPr>
        <p:spPr>
          <a:xfrm>
            <a:off x="457200" y="960120"/>
            <a:ext cx="5120640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1498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4"/>
          <p:cNvSpPr/>
          <p:nvPr/>
        </p:nvSpPr>
        <p:spPr>
          <a:xfrm>
            <a:off x="667512" y="101498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5"/>
          <p:cNvSpPr/>
          <p:nvPr/>
        </p:nvSpPr>
        <p:spPr>
          <a:xfrm>
            <a:off x="786384" y="101498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9" name="captura 22_usuario_nuevo" descr="22_usuario_nue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120640" cy="27930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39909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Formulario "Nuevo usuario"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852160" y="1033272"/>
            <a:ext cx="274320" cy="2743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852160" y="1033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•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236208" y="100584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Solo administradores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La API exige token y rol admin.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852160" y="1764792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852160" y="1764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236208" y="173736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3 roles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Admin, Usuario y Moderador.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852160" y="2496312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852160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236208" y="246888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Contraseña cifrada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Se guarda con hash bcrypt.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852160" y="3227832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85216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6236208" y="320040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Búsqueda y filtro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Por nombre, correo o rol.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Activar e inactivar usuarios</a:t>
            </a:r>
            <a:endParaRPr lang="en-US" sz="2800" dirty="0"/>
          </a:p>
        </p:txBody>
      </p:sp>
      <p:sp>
        <p:nvSpPr>
          <p:cNvPr id="4" name="marco 23_usuario_toggle"/>
          <p:cNvSpPr/>
          <p:nvPr/>
        </p:nvSpPr>
        <p:spPr>
          <a:xfrm>
            <a:off x="457200" y="960120"/>
            <a:ext cx="5120640" cy="2568633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barra navegador"/>
          <p:cNvSpPr/>
          <p:nvPr/>
        </p:nvSpPr>
        <p:spPr>
          <a:xfrm>
            <a:off x="457200" y="960120"/>
            <a:ext cx="5120640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1498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4"/>
          <p:cNvSpPr/>
          <p:nvPr/>
        </p:nvSpPr>
        <p:spPr>
          <a:xfrm>
            <a:off x="667512" y="101498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5"/>
          <p:cNvSpPr/>
          <p:nvPr/>
        </p:nvSpPr>
        <p:spPr>
          <a:xfrm>
            <a:off x="786384" y="101498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9" name="captura 23_usuario_toggle" descr="23_usuario_togg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120640" cy="238575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3583617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Confirmación antes de inactivar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852160" y="1033272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852160" y="1033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236208" y="100584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Confirmación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Se pide confirmar antes de cambiar el estado.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852160" y="1764792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852160" y="1764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236208" y="173736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No a la propia cuenta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"No puedes inactivar tu propia cuenta".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852160" y="2496312"/>
            <a:ext cx="274320" cy="2743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852160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•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236208" y="246888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Bloqueo inmediato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El inactivo no puede iniciar sesión ni usar su token.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Bitácora de auditoría</a:t>
            </a:r>
            <a:endParaRPr lang="en-US" sz="2800" dirty="0"/>
          </a:p>
        </p:txBody>
      </p:sp>
      <p:sp>
        <p:nvSpPr>
          <p:cNvPr id="4" name="marco 24_auditoria"/>
          <p:cNvSpPr/>
          <p:nvPr/>
        </p:nvSpPr>
        <p:spPr>
          <a:xfrm>
            <a:off x="457200" y="960120"/>
            <a:ext cx="5120640" cy="2568633"/>
          </a:xfrm>
          <a:prstGeom prst="rect">
            <a:avLst/>
          </a:prstGeom>
          <a:solidFill>
            <a:schemeClr val="bg1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barra navegador"/>
          <p:cNvSpPr/>
          <p:nvPr/>
        </p:nvSpPr>
        <p:spPr>
          <a:xfrm>
            <a:off x="457200" y="960120"/>
            <a:ext cx="5120640" cy="182880"/>
          </a:xfrm>
          <a:prstGeom prst="rect">
            <a:avLst/>
          </a:prstGeom>
          <a:solidFill>
            <a:srgbClr val="E7EBF2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14984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4"/>
          <p:cNvSpPr/>
          <p:nvPr/>
        </p:nvSpPr>
        <p:spPr>
          <a:xfrm>
            <a:off x="667512" y="1014984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5"/>
          <p:cNvSpPr/>
          <p:nvPr/>
        </p:nvSpPr>
        <p:spPr>
          <a:xfrm>
            <a:off x="786384" y="1014984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9" name="captura 24_auditoria" descr="24_auditor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120640" cy="238575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852160" y="1005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Acciones registradas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852160" y="1417320"/>
            <a:ext cx="283464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989320" y="14173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Inicio y cierre de sesión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852160" y="1892808"/>
            <a:ext cx="283464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989320" y="18928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Registro y edición de casos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852160" y="2368296"/>
            <a:ext cx="283464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989320" y="2368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Cargas masivas y descargas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852160" y="2843784"/>
            <a:ext cx="283464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989320" y="28437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Altas y cambios de usuarios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852160" y="3456432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852160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236208" y="342900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Filtros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Por acción y rango de fechas.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Resumen de validaciones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1B335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Acceso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Campos obligatorios, credenciales, usuario inactivo, límite de intentos, token y rol en cada pantalla.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1B335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Registro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7830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Fechas y nombre obligatorios, estado obligatorio, nivel normalizado, reglas de zona e Ixcán.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1B335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Servidor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830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Repite las reglas, evita duplicados (409) y revierte todo si algo falla.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1B335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Importación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474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Formato Excel, columna obligatoria, duplicados por CUI y nombre, motivo por fila.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91840" y="297180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1B335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7472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Administración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474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Solo admin, confirmación al inactivar, sin auto-inactivación, contraseñas cifradas.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35040" y="297180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1B335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Trazabilidad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474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Bitácora de sesiones, casos, cargas, descargas y usuarios; nombres pixelados en el PDF.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SIRCE · Ministerio de Educación de Guatemala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RCE">
  <a:themeElements>
    <a:clrScheme name="SIRCE">
      <a:dk1>
        <a:srgbClr val="1F2937"/>
      </a:dk1>
      <a:lt1>
        <a:srgbClr val="FFFFFF"/>
      </a:lt1>
      <a:dk2>
        <a:srgbClr val="10233F"/>
      </a:dk2>
      <a:lt2>
        <a:srgbClr val="F4F6FA"/>
      </a:lt2>
      <a:accent1>
        <a:srgbClr val="FF9797"/>
      </a:accent1>
      <a:accent2>
        <a:srgbClr val="17C4E8"/>
      </a:accent2>
      <a:accent3>
        <a:srgbClr val="E53935"/>
      </a:accent3>
      <a:accent4>
        <a:srgbClr val="2E9D6A"/>
      </a:accent4>
      <a:accent5>
        <a:srgbClr val="F59E0B"/>
      </a:accent5>
      <a:accent6>
        <a:srgbClr val="64748B"/>
      </a:accent6>
      <a:hlink>
        <a:srgbClr val="1C7293"/>
      </a:hlink>
      <a:folHlink>
        <a:srgbClr val="6D2E46"/>
      </a:folHlink>
    </a:clrScheme>
    <a:fontScheme name="SIR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SIRCE — Sistema de Registro de Casos de Embarazo</dc:title>
  <dc:subject>PptxGenJS Presentation</dc:subject>
  <dc:creator>MINEDUC · DIGECADE</dc:creator>
  <cp:lastModifiedBy>MINEDUC · DIGECADE</cp:lastModifiedBy>
  <cp:revision>1</cp:revision>
  <dcterms:created xsi:type="dcterms:W3CDTF">2026-10-08T16:53:00Z</dcterms:created>
  <dcterms:modified xsi:type="dcterms:W3CDTF">2026-10-08T16:53:00Z</dcterms:modified>
</cp:coreProperties>
</file>